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E49065-9FA0-46EE-BBD6-9C9769DB0AD6}">
  <a:tblStyle styleId="{80E49065-9FA0-46EE-BBD6-9C9769DB0AD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eee24c617b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eee24c617b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eee24c617b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571500" cy="6858000"/>
            </a:xfrm>
            <a:prstGeom prst="rect">
              <a:avLst/>
            </a:prstGeom>
            <a:solidFill>
              <a:srgbClr val="E509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resolution, cinematic still of a dark, modern home theater room with a large screen displaying a vibrant Netflix splash screen, moody ambient lighting in red and black tones, professional photography." id="18" name="Google Shape;18;p3"/>
            <p:cNvPicPr preferRelativeResize="0"/>
            <p:nvPr/>
          </p:nvPicPr>
          <p:blipFill rotWithShape="1">
            <a:blip r:embed="rId4">
              <a:alphaModFix/>
            </a:blip>
            <a:srcRect b="0" l="1390" r="1390" t="0"/>
            <a:stretch/>
          </p:blipFill>
          <p:spPr>
            <a:xfrm>
              <a:off x="5524500" y="0"/>
              <a:ext cx="66675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24500" y="0"/>
              <a:ext cx="36195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" name="Google Shape;20;p3"/>
          <p:cNvGrpSpPr/>
          <p:nvPr/>
        </p:nvGrpSpPr>
        <p:grpSpPr>
          <a:xfrm>
            <a:off x="952500" y="952500"/>
            <a:ext cx="5715000" cy="3448200"/>
            <a:chOff x="952500" y="952500"/>
            <a:chExt cx="5715000" cy="3448200"/>
          </a:xfrm>
        </p:grpSpPr>
        <p:sp>
          <p:nvSpPr>
            <p:cNvPr id="21" name="Google Shape;21;p3"/>
            <p:cNvSpPr txBox="1"/>
            <p:nvPr/>
          </p:nvSpPr>
          <p:spPr>
            <a:xfrm>
              <a:off x="952500" y="952500"/>
              <a:ext cx="571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00">
                  <a:solidFill>
                    <a:srgbClr val="E5091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N</a:t>
              </a:r>
              <a:endParaRPr sz="8400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CONTENT</a:t>
              </a:r>
              <a:endParaRPr sz="33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0">
                  <a:solidFill>
                    <a:srgbClr val="E5091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INTELLIGENCE</a:t>
              </a:r>
              <a:endParaRPr sz="3360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2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DASHBOARD</a:t>
              </a:r>
              <a:endParaRPr b="0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952500" y="40005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Netflix Global Content Insights · 2016 – 2025</a:t>
              </a:r>
              <a:endParaRPr sz="1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952500" y="4381500"/>
              <a:ext cx="3810000" cy="19200"/>
            </a:xfrm>
            <a:prstGeom prst="rect">
              <a:avLst/>
            </a:prstGeom>
            <a:solidFill>
              <a:srgbClr val="E509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" name="Google Shape;24;p3"/>
          <p:cNvGrpSpPr/>
          <p:nvPr/>
        </p:nvGrpSpPr>
        <p:grpSpPr>
          <a:xfrm>
            <a:off x="952500" y="4762500"/>
            <a:ext cx="4762650" cy="762000"/>
            <a:chOff x="952500" y="4762500"/>
            <a:chExt cx="4762650" cy="762000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952500" y="4762500"/>
              <a:ext cx="1047900" cy="762000"/>
              <a:chOff x="952500" y="4762500"/>
              <a:chExt cx="1047900" cy="7620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952500" y="4762500"/>
                <a:ext cx="10479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181818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952500" y="4762500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E50914"/>
                    </a:solidFill>
                    <a:latin typeface="Arial"/>
                    <a:ea typeface="Arial"/>
                    <a:cs typeface="Arial"/>
                    <a:sym typeface="Arial"/>
                  </a:rPr>
                  <a:t>200</a:t>
                </a:r>
                <a:endParaRPr b="1" sz="2400">
                  <a:solidFill>
                    <a:srgbClr val="E509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Titles</a:t>
                </a:r>
                <a:endParaRPr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>
              <a:off x="2190750" y="4762500"/>
              <a:ext cx="1047900" cy="762000"/>
              <a:chOff x="2190750" y="4762500"/>
              <a:chExt cx="1047900" cy="7620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2190750" y="4762500"/>
                <a:ext cx="10479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181818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2190750" y="4762500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E50914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1" sz="2400">
                  <a:solidFill>
                    <a:srgbClr val="E509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Years</a:t>
                </a:r>
                <a:endParaRPr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>
              <a:off x="3429000" y="4762500"/>
              <a:ext cx="1047900" cy="762000"/>
              <a:chOff x="3429000" y="4762500"/>
              <a:chExt cx="1047900" cy="7620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3429000" y="4762500"/>
                <a:ext cx="10479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181818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3429000" y="4762500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E50914"/>
                    </a:solidFill>
                    <a:latin typeface="Arial"/>
                    <a:ea typeface="Arial"/>
                    <a:cs typeface="Arial"/>
                    <a:sym typeface="Arial"/>
                  </a:rPr>
                  <a:t>15</a:t>
                </a:r>
                <a:endParaRPr b="1" sz="2400">
                  <a:solidFill>
                    <a:srgbClr val="E509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Countries</a:t>
                </a:r>
                <a:endParaRPr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>
              <a:off x="4667250" y="4762500"/>
              <a:ext cx="1047900" cy="762000"/>
              <a:chOff x="4667250" y="4762500"/>
              <a:chExt cx="1047900" cy="7620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4667250" y="4762500"/>
                <a:ext cx="10479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181818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4667250" y="4762500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E50914"/>
                    </a:solidFill>
                    <a:latin typeface="Arial"/>
                    <a:ea typeface="Arial"/>
                    <a:cs typeface="Arial"/>
                    <a:sym typeface="Arial"/>
                  </a:rPr>
                  <a:t>7.70</a:t>
                </a:r>
                <a:endParaRPr b="1" sz="2400">
                  <a:solidFill>
                    <a:srgbClr val="E509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Avg IMDb</a:t>
                </a:r>
                <a:endParaRPr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" name="Google Shape;37;p3"/>
          <p:cNvSpPr txBox="1"/>
          <p:nvPr/>
        </p:nvSpPr>
        <p:spPr>
          <a:xfrm>
            <a:off x="952500" y="6286500"/>
            <a:ext cx="571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Internship EDA Assignment | Task 2 | EDA &amp; Business Intelligence</a:t>
            </a:r>
            <a:endParaRPr sz="10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0"/>
            <a:ext cx="121614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0" y="685800"/>
            <a:ext cx="12161400" cy="36600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6576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📊  KEY PERFORMANCE INDICATORS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0" y="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 2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4"/>
          <p:cNvGrpSpPr/>
          <p:nvPr/>
        </p:nvGrpSpPr>
        <p:grpSpPr>
          <a:xfrm>
            <a:off x="361950" y="857250"/>
            <a:ext cx="11468100" cy="1143000"/>
            <a:chOff x="361950" y="857250"/>
            <a:chExt cx="11468100" cy="1143000"/>
          </a:xfrm>
        </p:grpSpPr>
        <p:sp>
          <p:nvSpPr>
            <p:cNvPr id="48" name="Google Shape;48;p4"/>
            <p:cNvSpPr/>
            <p:nvPr/>
          </p:nvSpPr>
          <p:spPr>
            <a:xfrm>
              <a:off x="361950" y="857250"/>
              <a:ext cx="2143200" cy="1143000"/>
            </a:xfrm>
            <a:prstGeom prst="roundRect">
              <a:avLst>
                <a:gd fmla="val 3333" name="adj"/>
              </a:avLst>
            </a:prstGeom>
            <a:solidFill>
              <a:srgbClr val="181818"/>
            </a:solidFill>
            <a:ln cap="flat" cmpd="sng" w="9525">
              <a:solidFill>
                <a:srgbClr val="2A2A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361950" y="857250"/>
              <a:ext cx="2143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E5091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200</a:t>
              </a:r>
              <a:endParaRPr sz="3200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Total Titles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2016–2025 · 20/yr</a:t>
              </a:r>
              <a:endPara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2647950" y="857250"/>
              <a:ext cx="2143200" cy="1143000"/>
            </a:xfrm>
            <a:prstGeom prst="roundRect">
              <a:avLst>
                <a:gd fmla="val 3333" name="adj"/>
              </a:avLst>
            </a:prstGeom>
            <a:solidFill>
              <a:srgbClr val="181818"/>
            </a:solidFill>
            <a:ln cap="flat" cmpd="sng" w="9525">
              <a:solidFill>
                <a:srgbClr val="2A2A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 txBox="1"/>
            <p:nvPr/>
          </p:nvSpPr>
          <p:spPr>
            <a:xfrm>
              <a:off x="2647950" y="857250"/>
              <a:ext cx="2143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5C51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7.70</a:t>
              </a:r>
              <a:endParaRPr sz="3200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Avg IMDb Score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Range: 4.3 – 9.3</a:t>
              </a:r>
              <a:endPara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4933950" y="857250"/>
              <a:ext cx="2143200" cy="1143000"/>
            </a:xfrm>
            <a:prstGeom prst="roundRect">
              <a:avLst>
                <a:gd fmla="val 3333" name="adj"/>
              </a:avLst>
            </a:prstGeom>
            <a:solidFill>
              <a:srgbClr val="181818"/>
            </a:solidFill>
            <a:ln cap="flat" cmpd="sng" w="9525">
              <a:solidFill>
                <a:srgbClr val="2A2A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 txBox="1"/>
            <p:nvPr/>
          </p:nvSpPr>
          <p:spPr>
            <a:xfrm>
              <a:off x="4933950" y="857250"/>
              <a:ext cx="2143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B4D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81.9M</a:t>
              </a:r>
              <a:endParaRPr sz="3200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Avg Viewership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Per title · Max 792M</a:t>
              </a:r>
              <a:endPara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7219950" y="857250"/>
              <a:ext cx="2143200" cy="1143000"/>
            </a:xfrm>
            <a:prstGeom prst="roundRect">
              <a:avLst>
                <a:gd fmla="val 3333" name="adj"/>
              </a:avLst>
            </a:prstGeom>
            <a:solidFill>
              <a:srgbClr val="181818"/>
            </a:solidFill>
            <a:ln cap="flat" cmpd="sng" w="9525">
              <a:solidFill>
                <a:srgbClr val="2A2A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 txBox="1"/>
            <p:nvPr/>
          </p:nvSpPr>
          <p:spPr>
            <a:xfrm>
              <a:off x="7219950" y="857250"/>
              <a:ext cx="2143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ECC7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18%</a:t>
              </a:r>
              <a:endParaRPr sz="32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Excellent Titles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IMDb ≥ 8.5 · 36 titles</a:t>
              </a:r>
              <a:endPara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9505950" y="857250"/>
              <a:ext cx="2324100" cy="1143000"/>
            </a:xfrm>
            <a:prstGeom prst="roundRect">
              <a:avLst>
                <a:gd fmla="val 3333" name="adj"/>
              </a:avLst>
            </a:prstGeom>
            <a:solidFill>
              <a:srgbClr val="181818"/>
            </a:solidFill>
            <a:ln cap="flat" cmpd="sng" w="9525">
              <a:solidFill>
                <a:srgbClr val="2A2A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 txBox="1"/>
            <p:nvPr/>
          </p:nvSpPr>
          <p:spPr>
            <a:xfrm>
              <a:off x="9505950" y="857250"/>
              <a:ext cx="2324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9B59B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15</a:t>
              </a:r>
              <a:endParaRPr sz="3200">
                <a:solidFill>
                  <a:srgbClr val="9B59B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Countries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USA leads at 62%</a:t>
              </a:r>
              <a:endPara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361950" y="2190750"/>
            <a:ext cx="11468025" cy="4000500"/>
            <a:chOff x="361950" y="2190750"/>
            <a:chExt cx="11468025" cy="4000500"/>
          </a:xfrm>
        </p:grpSpPr>
        <p:sp>
          <p:nvSpPr>
            <p:cNvPr id="59" name="Google Shape;59;p4"/>
            <p:cNvSpPr/>
            <p:nvPr/>
          </p:nvSpPr>
          <p:spPr>
            <a:xfrm>
              <a:off x="361950" y="2190750"/>
              <a:ext cx="3686100" cy="1905000"/>
            </a:xfrm>
            <a:prstGeom prst="roundRect">
              <a:avLst>
                <a:gd fmla="val 2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552450" y="2190750"/>
              <a:ext cx="3305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Arial"/>
                  <a:ea typeface="Arial"/>
                  <a:cs typeface="Arial"/>
                  <a:sym typeface="Arial"/>
                </a:rPr>
                <a:t>🇰🇷</a:t>
              </a: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Korean Content ROI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S.Korea produces 10% of titles but averages 143.9M views — </a:t>
              </a:r>
              <a:r>
                <a:rPr b="1" lang="en-US" sz="1100">
                  <a:solidFill>
                    <a:srgbClr val="E50914"/>
                  </a:solidFill>
                  <a:latin typeface="Arial"/>
                  <a:ea typeface="Arial"/>
                  <a:cs typeface="Arial"/>
                  <a:sym typeface="Arial"/>
                </a:rPr>
                <a:t>nearly double</a:t>
              </a: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USA's 76M avg.</a:t>
              </a:r>
              <a:endParaRPr sz="11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4238625" y="2190750"/>
              <a:ext cx="3714900" cy="1905000"/>
            </a:xfrm>
            <a:prstGeom prst="roundRect">
              <a:avLst>
                <a:gd fmla="val 2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 txBox="1"/>
            <p:nvPr/>
          </p:nvSpPr>
          <p:spPr>
            <a:xfrm>
              <a:off x="4429125" y="2190750"/>
              <a:ext cx="3333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Arial"/>
                  <a:ea typeface="Arial"/>
                  <a:cs typeface="Arial"/>
                  <a:sym typeface="Arial"/>
                </a:rPr>
                <a:t>☀️</a:t>
              </a: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Summer Release Effect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June–July releases avg 113M views vs 34M in October — a </a:t>
              </a:r>
              <a:r>
                <a:rPr b="1" lang="en-US" sz="1100">
                  <a:solidFill>
                    <a:srgbClr val="F5C518"/>
                  </a:solidFill>
                  <a:latin typeface="Arial"/>
                  <a:ea typeface="Arial"/>
                  <a:cs typeface="Arial"/>
                  <a:sym typeface="Arial"/>
                </a:rPr>
                <a:t>3.3× difference</a:t>
              </a: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from timing alone.</a:t>
              </a:r>
              <a:endParaRPr sz="11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8143875" y="2190750"/>
              <a:ext cx="3686100" cy="1905000"/>
            </a:xfrm>
            <a:prstGeom prst="roundRect">
              <a:avLst>
                <a:gd fmla="val 2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 txBox="1"/>
            <p:nvPr/>
          </p:nvSpPr>
          <p:spPr>
            <a:xfrm>
              <a:off x="8334375" y="2190750"/>
              <a:ext cx="3305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Arial"/>
                  <a:ea typeface="Arial"/>
                  <a:cs typeface="Arial"/>
                  <a:sym typeface="Arial"/>
                </a:rPr>
                <a:t>📺</a:t>
              </a: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Longer = More Views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Content 500+ min averages 122M views vs 34M for short content. </a:t>
              </a:r>
              <a:r>
                <a:rPr b="1" lang="en-US" sz="1100">
                  <a:solidFill>
                    <a:srgbClr val="00B4D8"/>
                  </a:solidFill>
                  <a:latin typeface="Arial"/>
                  <a:ea typeface="Arial"/>
                  <a:cs typeface="Arial"/>
                  <a:sym typeface="Arial"/>
                </a:rPr>
                <a:t>Season renewals</a:t>
              </a: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= high ROI.</a:t>
              </a:r>
              <a:endParaRPr sz="11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361950" y="4286250"/>
              <a:ext cx="5629200" cy="1905000"/>
            </a:xfrm>
            <a:prstGeom prst="roundRect">
              <a:avLst>
                <a:gd fmla="val 2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 txBox="1"/>
            <p:nvPr/>
          </p:nvSpPr>
          <p:spPr>
            <a:xfrm>
              <a:off x="552450" y="4286250"/>
              <a:ext cx="5248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Arial"/>
                  <a:ea typeface="Arial"/>
                  <a:cs typeface="Arial"/>
                  <a:sym typeface="Arial"/>
                </a:rPr>
                <a:t>🎭</a:t>
              </a: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Crime Genre Dominates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Heist/Crime averages </a:t>
              </a:r>
              <a:r>
                <a:rPr b="1" lang="en-US" sz="1100">
                  <a:solidFill>
                    <a:srgbClr val="E50914"/>
                  </a:solidFill>
                  <a:latin typeface="Arial"/>
                  <a:ea typeface="Arial"/>
                  <a:cs typeface="Arial"/>
                  <a:sym typeface="Arial"/>
                </a:rPr>
                <a:t>388M views per title</a:t>
              </a: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— more than double Fantasy Drama in 3rd place.</a:t>
              </a:r>
              <a:endParaRPr sz="11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6200775" y="4286250"/>
              <a:ext cx="5629200" cy="1905000"/>
            </a:xfrm>
            <a:prstGeom prst="roundRect">
              <a:avLst>
                <a:gd fmla="val 2000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 txBox="1"/>
            <p:nvPr/>
          </p:nvSpPr>
          <p:spPr>
            <a:xfrm>
              <a:off x="6391275" y="4286250"/>
              <a:ext cx="5248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Arial"/>
                  <a:ea typeface="Arial"/>
                  <a:cs typeface="Arial"/>
                  <a:sym typeface="Arial"/>
                </a:rPr>
                <a:t>⭐</a:t>
              </a: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Quality Drives Views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Excellent-rated titles (IMDb ≥ 8.5) earn </a:t>
              </a:r>
              <a:r>
                <a:rPr b="1" lang="en-US" sz="1100">
                  <a:solidFill>
                    <a:srgbClr val="2ECC71"/>
                  </a:solidFill>
                  <a:latin typeface="Arial"/>
                  <a:ea typeface="Arial"/>
                  <a:cs typeface="Arial"/>
                  <a:sym typeface="Arial"/>
                </a:rPr>
                <a:t>2.8× more views</a:t>
              </a:r>
              <a:r>
                <a:rPr lang="en-US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than Below Average titles.</a:t>
              </a:r>
              <a:endParaRPr sz="11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4"/>
          <p:cNvSpPr/>
          <p:nvPr/>
        </p:nvSpPr>
        <p:spPr>
          <a:xfrm>
            <a:off x="320040" y="6446520"/>
            <a:ext cx="1152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Source: Netflix Global Content Insights Dataset 2016–2025  |  Analysis by Intern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0" y="0"/>
            <a:ext cx="121614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0" y="685800"/>
            <a:ext cx="12161400" cy="36600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576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🎬  CONTENT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144000" y="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 3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74320" y="822960"/>
            <a:ext cx="3749100" cy="28347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57200" y="86868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IMDb Quality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1170432"/>
            <a:ext cx="338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% of 200 titles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0"/>
            <a:ext cx="3749100" cy="21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4206240" y="822960"/>
            <a:ext cx="4572000" cy="28347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389120" y="868680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Genres by Title 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389120" y="1170432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Number of titles per genre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" title="eda_fig1_univariate.png"/>
          <p:cNvPicPr preferRelativeResize="0"/>
          <p:nvPr/>
        </p:nvPicPr>
        <p:blipFill rotWithShape="1">
          <a:blip r:embed="rId4">
            <a:alphaModFix/>
          </a:blip>
          <a:srcRect b="1653" l="0" r="66003" t="60347"/>
          <a:stretch/>
        </p:blipFill>
        <p:spPr>
          <a:xfrm>
            <a:off x="4206250" y="1371775"/>
            <a:ext cx="4572000" cy="21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8961120" y="822960"/>
            <a:ext cx="2880300" cy="28347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144000" y="868680"/>
            <a:ext cx="251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Releases by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144000" y="1170432"/>
            <a:ext cx="251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When does Netflix release most?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5" title="eda_fig1_univariate.png"/>
          <p:cNvPicPr preferRelativeResize="0"/>
          <p:nvPr/>
        </p:nvPicPr>
        <p:blipFill rotWithShape="1">
          <a:blip r:embed="rId4">
            <a:alphaModFix/>
          </a:blip>
          <a:srcRect b="308" l="71056" r="0" t="60218"/>
          <a:stretch/>
        </p:blipFill>
        <p:spPr>
          <a:xfrm>
            <a:off x="9006600" y="1371600"/>
            <a:ext cx="2834700" cy="21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274320" y="3794760"/>
            <a:ext cx="5669400" cy="26061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7200" y="384048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IMDb Score by Country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4142232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Countries with ≥ 2 titles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5" title="Screenshot (112).png"/>
          <p:cNvPicPr preferRelativeResize="0"/>
          <p:nvPr/>
        </p:nvPicPr>
        <p:blipFill rotWithShape="1">
          <a:blip r:embed="rId5">
            <a:alphaModFix/>
          </a:blip>
          <a:srcRect b="32002" l="0" r="10977" t="18458"/>
          <a:stretch/>
        </p:blipFill>
        <p:spPr>
          <a:xfrm>
            <a:off x="274325" y="4315975"/>
            <a:ext cx="5669400" cy="21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6126480" y="3794760"/>
            <a:ext cx="2834700" cy="26061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309360" y="384048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 Duration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4206240"/>
            <a:ext cx="2834700" cy="21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9098280" y="3794760"/>
            <a:ext cx="2743200" cy="26061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235440" y="388620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💡 Key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235440" y="4251960"/>
            <a:ext cx="24690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Crime Drama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is the most produced genre with 14 titles.</a:t>
            </a:r>
            <a:b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UK &amp; Canada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produce fewer titles but score highest on IMDb — signaling a quality-over-quantity strategy.</a:t>
            </a:r>
            <a:b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January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is Netflix's busiest release month with 25 titles.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0" y="685800"/>
            <a:ext cx="12161520" cy="36576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6576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👁️  VIEWERSHIP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9144000" y="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 4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74320" y="822960"/>
            <a:ext cx="11612880" cy="22860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Viewership by Year (Millions)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1170432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Sum of all title viewership per year — Note: 2023 unit changed from Hours to Views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53312"/>
            <a:ext cx="1161288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274323" y="3246125"/>
            <a:ext cx="3860100" cy="31548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329184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Viewership by Genre (Top 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3593592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Avg millions of views per title by genre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6" title="eda_fig2_multivariate.png"/>
          <p:cNvPicPr preferRelativeResize="0"/>
          <p:nvPr/>
        </p:nvPicPr>
        <p:blipFill rotWithShape="1">
          <a:blip r:embed="rId4">
            <a:alphaModFix/>
          </a:blip>
          <a:srcRect b="-1552" l="65808" r="0" t="61144"/>
          <a:stretch/>
        </p:blipFill>
        <p:spPr>
          <a:xfrm>
            <a:off x="274275" y="3794750"/>
            <a:ext cx="3860100" cy="26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4256475" y="3246125"/>
            <a:ext cx="3568500" cy="31548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439360" y="32918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IMDb Band vs Avg Viewership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439360" y="359359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Does quality drive views?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 title="eda_fig2_multivariate.png"/>
          <p:cNvPicPr preferRelativeResize="0"/>
          <p:nvPr/>
        </p:nvPicPr>
        <p:blipFill rotWithShape="1">
          <a:blip r:embed="rId4">
            <a:alphaModFix/>
          </a:blip>
          <a:srcRect b="49565" l="69652" r="0" t="11088"/>
          <a:stretch/>
        </p:blipFill>
        <p:spPr>
          <a:xfrm>
            <a:off x="4256250" y="3794700"/>
            <a:ext cx="3516000" cy="26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7943929" y="3246125"/>
            <a:ext cx="3568500" cy="31548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081075" y="329184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Views by Country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6" title="eda_fig2_multivariate.png"/>
          <p:cNvPicPr preferRelativeResize="0"/>
          <p:nvPr/>
        </p:nvPicPr>
        <p:blipFill rotWithShape="1">
          <a:blip r:embed="rId4">
            <a:alphaModFix/>
          </a:blip>
          <a:srcRect b="0" l="0" r="68217" t="62599"/>
          <a:stretch/>
        </p:blipFill>
        <p:spPr>
          <a:xfrm>
            <a:off x="7943875" y="3630150"/>
            <a:ext cx="3568500" cy="27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0" y="685800"/>
            <a:ext cx="12161520" cy="36576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6576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🗄️  SQL BUSINESS QUESTIONS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9144000" y="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 5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74320" y="868680"/>
            <a:ext cx="3749040" cy="265176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74320" y="868680"/>
            <a:ext cx="502920" cy="265176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74320" y="187452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68680" y="9601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#1 Title Each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68680" y="1307592"/>
            <a:ext cx="301752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32688" y="1344168"/>
            <a:ext cx="290779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SELECT Year, Title, MAX(Viewership_M)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FROM netflix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GROUP BY Year  ORDER BY Year;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68680" y="271576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→ Crime/Thriller genres top the chart every single year since 2017.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224528" y="868680"/>
            <a:ext cx="3749040" cy="265176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224528" y="868680"/>
            <a:ext cx="502920" cy="265176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224528" y="187452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18888" y="9601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Country by IMDb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18888" y="1307592"/>
            <a:ext cx="301752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882896" y="1344168"/>
            <a:ext cx="290779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SELECT Primary_Country, AVG(IMDb)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FROM netflix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GROUP BY Primary_Country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HAVING COUNT(*) &gt;=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 BY AVG(IMDb) DESC;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18888" y="271576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→ Canada 8.47 · UK 8.12 · S.Korea 7.90 lead quality rankings.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174736" y="868680"/>
            <a:ext cx="3749040" cy="265176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174736" y="868680"/>
            <a:ext cx="502920" cy="265176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174736" y="187452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769096" y="9601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Genre Performance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769096" y="1307592"/>
            <a:ext cx="301752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8833104" y="1344168"/>
            <a:ext cx="290779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SELECT Genre, AVG(IMDb),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AVG(Viewership_M), MAX(Viewership_M)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FROM netflix  GROUP BY Genre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HAVING COUNT(*) &gt;=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 BY AVG(Viewership_M) DESC;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769096" y="271576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→ Heist/Crime avg 388M views — nearly double Fantasy Drama.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74320" y="3703320"/>
            <a:ext cx="3749040" cy="265176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74320" y="3703320"/>
            <a:ext cx="502920" cy="265176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74320" y="470916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Q4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68680" y="3794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Yearly Trend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68680" y="4142232"/>
            <a:ext cx="301752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932688" y="4178808"/>
            <a:ext cx="290779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SELECT Year, COUNT(*) AS titles,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AVG(IMDb), SUM(Viewership_M)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FROM netflix  GROUP BY Year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 BY Year;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68680" y="555040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→ 2022 was peak viewership at 3,985M total. 2024 shows recovery.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224528" y="3703320"/>
            <a:ext cx="3749040" cy="265176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224528" y="3703320"/>
            <a:ext cx="502920" cy="265176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224528" y="470916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Q5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818888" y="3794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Release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818888" y="4142232"/>
            <a:ext cx="301752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882896" y="4178808"/>
            <a:ext cx="290779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SELECT Release_Month,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AVG(Viewership_M) AS avg_views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FROM netflix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GROUP BY Release_Month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 BY avg_views DESC;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818888" y="555040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→ June 115.8M avg · July 110.2M · October 34.2M — worst month.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174736" y="3703320"/>
            <a:ext cx="3749040" cy="265176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8174736" y="3703320"/>
            <a:ext cx="502920" cy="265176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174736" y="470916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Q6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769096" y="3794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Excellent + Popular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769096" y="4142232"/>
            <a:ext cx="301752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833104" y="4178808"/>
            <a:ext cx="290779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SELECT Title, IMDb, Viewership_M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FROM netflix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WHERE IMDb_Band = 'Excellent'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 BY Viewership_M DESC  LIMIT 15;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769096" y="555040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→ Stranger Things 3 (582M) leads. Ozark 2nd at 491M views.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0" y="685800"/>
            <a:ext cx="12161520" cy="36576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6576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🏆  TOP TITLES — EXCELLENCE + VIEWERSHIP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144000" y="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 6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 Critically Acclaimed Titles by Viewership  (IMDb Band: Excellent ≥ 8.5)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8"/>
          <p:cNvGraphicFramePr/>
          <p:nvPr/>
        </p:nvGraphicFramePr>
        <p:xfrm>
          <a:off x="27432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{80E49065-9FA0-46EE-BBD6-9C9769DB0AD6}</a:tableStyleId>
              </a:tblPr>
              <a:tblGrid>
                <a:gridCol w="365750"/>
                <a:gridCol w="2560325"/>
                <a:gridCol w="548650"/>
                <a:gridCol w="1645925"/>
                <a:gridCol w="1188725"/>
                <a:gridCol w="640075"/>
                <a:gridCol w="1280150"/>
              </a:tblGrid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Genre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IMDb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Viewership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000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Stranger Things 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Sci-Fi / Horror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582M Hours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Ozark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Crime Drama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491M Hours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Extraordinary Attorney Woo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Drama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Korea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402M Hours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Arcane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Animation/Action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120M Views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Queen's Gambit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Period Drama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112M Views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Adolescence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Crime Drama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142.6M Views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Stranger Things 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Sci-Fi / Horror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140.7M Hours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Planet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Nature Doc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33M Views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They See Us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Drama / Legal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25M Views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818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Peaky Blinders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Period Crime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1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F5C5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30M Views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8"/>
          <p:cNvSpPr/>
          <p:nvPr/>
        </p:nvSpPr>
        <p:spPr>
          <a:xfrm>
            <a:off x="274320" y="5559552"/>
            <a:ext cx="1161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📅  #1 Most-Watched Title Each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74320" y="58704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2016: Orange Is the New Black (23M Streams)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74320" y="61264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2017: Ozark (491M Hrs)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74320" y="638251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2018: 13 Reasons Why (496M Hrs)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74320" y="663854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2019: Stranger Things 3 (582M Hrs)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206240" y="58704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2020: Money Heist (619M Hrs)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206240" y="61264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2021: Money Heist (792M Hrs) 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206240" y="638251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2022: All of Us Are Dead (679M Hrs)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138160" y="58704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2023: Night Agent (99M Views)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138160" y="61264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2024: Squid Game 2 (192M Views)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138160" y="638251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2025: KPop Demon Hunters (482M Views)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0" y="0"/>
            <a:ext cx="121614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0" y="685800"/>
            <a:ext cx="12161400" cy="36600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6576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💡  KEY INSIGHTS &amp; RECOMMENDATIONS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144000" y="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SLIDE 7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74320" y="914400"/>
            <a:ext cx="5760600" cy="17832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274320" y="914400"/>
            <a:ext cx="73200" cy="1783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38912" y="1024128"/>
            <a:ext cx="438900" cy="3840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38912" y="1024128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969264" y="1042416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🇰🇷  Double Down on Korean Content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69264" y="142646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South Korea produces 10% of titles but averages 143.9M views — nearly 2× the USA average. Invest in more Korean originals.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263640" y="914400"/>
            <a:ext cx="5760600" cy="17832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6263640" y="914400"/>
            <a:ext cx="73200" cy="178320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428232" y="1024128"/>
            <a:ext cx="438900" cy="3840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428232" y="1024128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958584" y="1042416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☀️  Prioritise Summer Releases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958584" y="142646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June–July releases average 113M views vs 34M in October — a 3.3× difference from timing alone. Schedule premium titles for summer.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74320" y="2834640"/>
            <a:ext cx="5760600" cy="17832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274320" y="2834640"/>
            <a:ext cx="73200" cy="1783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38912" y="2944368"/>
            <a:ext cx="438900" cy="3840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38912" y="2944368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69264" y="2962656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📺  Renew for More Seasons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69264" y="334670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Long-form content (500+ min) averages 122M views vs 34M for short content. Season renewals offer the best viewership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263640" y="2834640"/>
            <a:ext cx="5760600" cy="17832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263640" y="2834640"/>
            <a:ext cx="73200" cy="1783200"/>
          </a:xfrm>
          <a:prstGeom prst="rect">
            <a:avLst/>
          </a:prstGeom>
          <a:solidFill>
            <a:srgbClr val="E50914"/>
          </a:solidFill>
          <a:ln cap="flat" cmpd="sng" w="1270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428232" y="2944368"/>
            <a:ext cx="438900" cy="3840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428232" y="2944368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958584" y="2962656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🎭  Commission More Crime/Heist Originals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958584" y="334670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Heist/Crime genre averages 388M views per title — nearly double Fantasy Drama. This genre is significantly underserved.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74320" y="4754880"/>
            <a:ext cx="5760600" cy="17832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274320" y="4754880"/>
            <a:ext cx="73200" cy="178320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38912" y="4864608"/>
            <a:ext cx="438900" cy="3840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38912" y="4864608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6B6B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69264" y="4866752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🇪🇸  Expand Spanish-Language Originals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69264" y="526694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Spain averages 229M views with only 9 titles — the highest viewership-to-volume ratio of any country. Strong ROI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263640" y="4754880"/>
            <a:ext cx="5760600" cy="1783200"/>
          </a:xfrm>
          <a:prstGeom prst="rect">
            <a:avLst/>
          </a:prstGeom>
          <a:solidFill>
            <a:srgbClr val="181818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263640" y="4754880"/>
            <a:ext cx="73200" cy="178320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428232" y="4864608"/>
            <a:ext cx="438900" cy="384000"/>
          </a:xfrm>
          <a:prstGeom prst="rect">
            <a:avLst/>
          </a:prstGeom>
          <a:solidFill>
            <a:srgbClr val="1A0000"/>
          </a:solidFill>
          <a:ln cap="flat" cmpd="sng" w="12700">
            <a:solidFill>
              <a:srgbClr val="1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428232" y="4864608"/>
            <a:ext cx="4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958584" y="4882896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Maintain Quality Standards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958584" y="526694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Excellent titles (IMDb ≥ 8.5) earn 2.8× more views than Below Average. Quality investment pays off in engagement.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0" y="6510528"/>
            <a:ext cx="12161400" cy="347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274320" y="6537960"/>
            <a:ext cx="1161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Netflix Content Intelligence Dashboard  ·  EDA &amp; Business Intelligence  ·  Internship Task 2  ·  Dataset: Netflix Global Content Insights 2016–2025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